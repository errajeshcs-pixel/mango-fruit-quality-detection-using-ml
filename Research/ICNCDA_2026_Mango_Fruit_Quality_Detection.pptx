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400" b="1"/>
              <a:t>Accuracy Comparison with Prior Fruit-Quality Classification Studies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/ AP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1-0BA0-48D7-BF7F-E2B2B8097CCD}"/>
              </c:ext>
            </c:extLst>
          </c:dPt>
          <c:dPt>
            <c:idx val="1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3-0BA0-48D7-BF7F-E2B2B8097CCD}"/>
              </c:ext>
            </c:extLst>
          </c:dPt>
          <c:dPt>
            <c:idx val="2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5-0BA0-48D7-BF7F-E2B2B8097CCD}"/>
              </c:ext>
            </c:extLst>
          </c:dPt>
          <c:dPt>
            <c:idx val="3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7-0BA0-48D7-BF7F-E2B2B8097CCD}"/>
              </c:ext>
            </c:extLst>
          </c:dPt>
          <c:dPt>
            <c:idx val="4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9-0BA0-48D7-BF7F-E2B2B8097CCD}"/>
              </c:ext>
            </c:extLst>
          </c:dPt>
          <c:dPt>
            <c:idx val="5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B-0BA0-48D7-BF7F-E2B2B8097CCD}"/>
              </c:ext>
            </c:extLst>
          </c:dPt>
          <c:dPt>
            <c:idx val="6"/>
            <c:invertIfNegative val="1"/>
            <c:bubble3D val="0"/>
            <c:spPr>
              <a:solidFill>
                <a:srgbClr val="1F3A5F"/>
              </a:solidFill>
            </c:spPr>
            <c:extLst>
              <c:ext xmlns:c16="http://schemas.microsoft.com/office/drawing/2014/chart" uri="{C3380CC4-5D6E-409C-BE32-E72D297353CC}">
                <c16:uniqueId val="{0000000D-0BA0-48D7-BF7F-E2B2B8097CCD}"/>
              </c:ext>
            </c:extLst>
          </c:dPt>
          <c:dPt>
            <c:idx val="7"/>
            <c:invertIfNegative val="1"/>
            <c:bubble3D val="0"/>
            <c:spPr>
              <a:solidFill>
                <a:srgbClr val="C03A2E"/>
              </a:solidFill>
            </c:spPr>
            <c:extLst>
              <c:ext xmlns:c16="http://schemas.microsoft.com/office/drawing/2014/chart" uri="{C3380CC4-5D6E-409C-BE32-E72D297353CC}">
                <c16:uniqueId val="{0000000F-0BA0-48D7-BF7F-E2B2B8097CC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InceptionV3 [11]</c:v>
                </c:pt>
                <c:pt idx="1">
                  <c:v>MobileNetV2 [12]</c:v>
                </c:pt>
                <c:pt idx="2">
                  <c:v>YOLOv4-imp. [14]</c:v>
                </c:pt>
                <c:pt idx="3">
                  <c:v>CNN+Softmax [16]</c:v>
                </c:pt>
                <c:pt idx="4">
                  <c:v>En-UNet [17]</c:v>
                </c:pt>
                <c:pt idx="5">
                  <c:v>CNN+RF [18]</c:v>
                </c:pt>
                <c:pt idx="6">
                  <c:v>Mango-CNN [19]</c:v>
                </c:pt>
                <c:pt idx="7">
                  <c:v>Proposed
OVGGNet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97.34</c:v>
                </c:pt>
                <c:pt idx="1">
                  <c:v>92.5</c:v>
                </c:pt>
                <c:pt idx="2">
                  <c:v>73.5</c:v>
                </c:pt>
                <c:pt idx="3">
                  <c:v>97.82</c:v>
                </c:pt>
                <c:pt idx="4">
                  <c:v>97.54</c:v>
                </c:pt>
                <c:pt idx="5">
                  <c:v>95.11</c:v>
                </c:pt>
                <c:pt idx="6">
                  <c:v>98</c:v>
                </c:pt>
                <c:pt idx="7">
                  <c:v>99.76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A0-48D7-BF7F-E2B2B8097C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000" b="1" dirty="0">
                <a:solidFill>
                  <a:srgbClr val="1F3A5F"/>
                </a:solidFill>
                <a:latin typeface="Aptos" panose="020B0004020202020204" pitchFamily="34" charset="0"/>
              </a:rPr>
              <a:t>Mango Fruit Quality Detection using Optimized VGGNet Model</a:t>
            </a:r>
          </a:p>
          <a:p>
            <a:r>
              <a:rPr lang="en-IN" sz="1400" dirty="0">
                <a:latin typeface="Aptos" panose="020B0004020202020204" pitchFamily="34" charset="0"/>
              </a:rPr>
              <a:t>PAPER ID :90</a:t>
            </a:r>
          </a:p>
          <a:p>
            <a:r>
              <a:rPr lang="en-IN" sz="1600" dirty="0">
                <a:latin typeface="Aptos" panose="020B0004020202020204" pitchFamily="34" charset="0"/>
              </a:rPr>
              <a:t>Rajesh Kumar Singh ,Brijesh Kumar Chaurasia, Man Mohan Shukla, Sunil Vishwakarma, Yogendra Pratap Singh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fr-FR" sz="1400" dirty="0">
                <a:latin typeface="Aptos" panose="020B0004020202020204" pitchFamily="34" charset="0"/>
              </a:rPr>
              <a:t>Tata </a:t>
            </a:r>
            <a:r>
              <a:rPr lang="fr-FR" sz="1400" dirty="0" err="1">
                <a:latin typeface="Aptos" panose="020B0004020202020204" pitchFamily="34" charset="0"/>
              </a:rPr>
              <a:t>Consultancy</a:t>
            </a:r>
            <a:r>
              <a:rPr lang="fr-FR" sz="1400" dirty="0">
                <a:latin typeface="Aptos" panose="020B0004020202020204" pitchFamily="34" charset="0"/>
              </a:rPr>
              <a:t> Services, London, UK</a:t>
            </a:r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dirty="0">
                <a:latin typeface="Aptos" panose="020B0004020202020204" pitchFamily="34" charset="0"/>
              </a:rPr>
              <a:t>Department of Computer Science and Engineering, Pranveer Singh Institute of Technology, Kanpur, UP, India</a:t>
            </a:r>
          </a:p>
          <a:p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2000" b="1" dirty="0">
                <a:solidFill>
                  <a:srgbClr val="1F3A5F"/>
                </a:solidFill>
                <a:latin typeface="Aptos" panose="020B0004020202020204" pitchFamily="34" charset="0"/>
              </a:rPr>
              <a:t>Presenting Author : Rajesh Kumar Singh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81F85-D6E8-6268-1D16-D7A991B54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500000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1F3A5F"/>
                </a:solidFill>
                <a:latin typeface="Aptos" panose="020B0004020202020204" pitchFamily="34" charset="0"/>
              </a:rPr>
              <a:t> Content: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0C783-A334-80FA-82A7-DC7E47F63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11407806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1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Abstract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2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Introduction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3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Literature Review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4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Research Gaps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5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Proposed Methodology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6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Results &amp; Discussion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7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Comparative Analysis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8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Conclusion &amp; Future Work</a:t>
            </a:r>
          </a:p>
          <a:p>
            <a:pPr>
              <a:spcAft>
                <a:spcPts val="1000"/>
              </a:spcAft>
            </a:pPr>
            <a:r>
              <a:rPr lang="en-GB" sz="2000" dirty="0">
                <a:solidFill>
                  <a:srgbClr val="1A1A1A"/>
                </a:solidFill>
                <a:latin typeface="Aptos" panose="020B0004020202020204" pitchFamily="34" charset="0"/>
              </a:rPr>
              <a:t>9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. References</a:t>
            </a:r>
          </a:p>
        </p:txBody>
      </p:sp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500000"/>
          </a:xfrm>
        </p:spPr>
        <p:txBody>
          <a:bodyPr/>
          <a:lstStyle/>
          <a:p>
            <a:pPr algn="l"/>
            <a:r>
              <a:rPr lang="en-IN" b="1" dirty="0">
                <a:solidFill>
                  <a:srgbClr val="1F3A5F"/>
                </a:solidFill>
                <a:latin typeface="Aptos" panose="020B0004020202020204" pitchFamily="34" charset="0"/>
              </a:rPr>
              <a:t>1</a:t>
            </a:r>
            <a:r>
              <a:rPr lang="en-IN" sz="2400" b="1" dirty="0">
                <a:solidFill>
                  <a:srgbClr val="1F3A5F"/>
                </a:solidFill>
                <a:latin typeface="Aptos" panose="020B0004020202020204" pitchFamily="34" charset="0"/>
              </a:rPr>
              <a:t>. ABSTRACT: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A1EC-41EB-0D51-BE79-E8CB8C46F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1140780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Mango fruit quality is largely determined by ripening stage, judged using 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colour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, shape and size.</a:t>
            </a:r>
          </a:p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Artificial Intelligence (AI) is increasingly used to automatically assess the external quality of food and agricultural produce.</a:t>
            </a:r>
            <a:endParaRPr lang="en-GB" sz="1800" dirty="0">
              <a:solidFill>
                <a:srgbClr val="1A1A1A"/>
              </a:solidFill>
              <a:latin typeface="Aptos" panose="020B0004020202020204" pitchFamily="34" charset="0"/>
            </a:endParaRPr>
          </a:p>
          <a:p>
            <a:pPr>
              <a:spcAft>
                <a:spcPts val="1400"/>
              </a:spcAft>
            </a:pPr>
            <a:r>
              <a:rPr lang="en-GB" dirty="0">
                <a:solidFill>
                  <a:srgbClr val="1A1A1A"/>
                </a:solidFill>
                <a:latin typeface="Aptos" panose="020B0004020202020204" pitchFamily="34" charset="0"/>
              </a:rPr>
              <a:t>▪ </a:t>
            </a:r>
            <a:r>
              <a:rPr lang="en-GB" dirty="0" err="1">
                <a:solidFill>
                  <a:srgbClr val="1A1A1A"/>
                </a:solidFill>
                <a:latin typeface="Aptos" panose="020B0004020202020204" pitchFamily="34" charset="0"/>
              </a:rPr>
              <a:t>VGGNet</a:t>
            </a:r>
            <a:r>
              <a:rPr lang="en-GB" dirty="0">
                <a:solidFill>
                  <a:srgbClr val="1A1A1A"/>
                </a:solidFill>
                <a:latin typeface="Aptos" panose="020B0004020202020204" pitchFamily="34" charset="0"/>
              </a:rPr>
              <a:t> (Visual Geometry Group Network) is a well-known computer vision model that analyses images and identifies the objects or features they contain. It uses a deep neural network with many layers to learn visual patterns, making it effective for image classification and recognition tasks.</a:t>
            </a:r>
            <a:endParaRPr dirty="0">
              <a:solidFill>
                <a:srgbClr val="1A1A1A"/>
              </a:solidFill>
              <a:latin typeface="Aptos" panose="020B0004020202020204" pitchFamily="34" charset="0"/>
            </a:endParaRPr>
          </a:p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An Optimized 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VGGNet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 (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OVGGNet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) model is proposed for automated mango fruit quality (fresh vs. rotten) detection.</a:t>
            </a:r>
          </a:p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Fully-connected layer replaced with a flattened layer, dense layer uses 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ReLU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 activation, sigmoid output performs binary classification, and average pooling is replaced with max pooling.</a:t>
            </a:r>
          </a:p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Model trained and validated on multiple dataset split ratios and validation methods.</a:t>
            </a:r>
          </a:p>
          <a:p>
            <a:pPr algn="l">
              <a:spcAft>
                <a:spcPts val="14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The proposed 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OVGGNet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 model attains an accuracy of up to 99.76%.</a:t>
            </a:r>
          </a:p>
        </p:txBody>
      </p:sp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500000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1F3A5F"/>
                </a:solidFill>
                <a:latin typeface="Aptos" panose="020B0004020202020204" pitchFamily="34" charset="0"/>
              </a:rPr>
              <a:t>2. INTRODUCTION: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3F8B1-1962-8ED2-6BB1-2ADE165DA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114078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Agriculture is central to socioeconomic development; 82% of Indian farmers are small/marginal, and 70% of rural households depend on it for income.</a:t>
            </a:r>
          </a:p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Mango is nutritionally and economically important, but quality assessment via manual/visual inspection is costly, slow, and error-prone (fatigue, poor vision, imprecision).</a:t>
            </a:r>
          </a:p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AI, computer vision (CV), machine learning (ML) and deep learning (DL) enable automated tools that mimic expert visual perception and decision-making.</a:t>
            </a:r>
          </a:p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CNNs are well suited to detecting/classifying fruit diseases and defects across many classes.</a:t>
            </a:r>
          </a:p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This work compares dataset images with real-time images to classify mango fruit as Fresh (</a:t>
            </a:r>
            <a:r>
              <a:rPr sz="2000" dirty="0" err="1">
                <a:solidFill>
                  <a:srgbClr val="1A1A1A"/>
                </a:solidFill>
                <a:latin typeface="Aptos" panose="020B0004020202020204" pitchFamily="34" charset="0"/>
              </a:rPr>
              <a:t>F_Mango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) or Rotten (</a:t>
            </a:r>
            <a:r>
              <a:rPr sz="2000" dirty="0" err="1">
                <a:solidFill>
                  <a:srgbClr val="1A1A1A"/>
                </a:solidFill>
                <a:latin typeface="Aptos" panose="020B0004020202020204" pitchFamily="34" charset="0"/>
              </a:rPr>
              <a:t>R_Mango</a:t>
            </a: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).</a:t>
            </a:r>
          </a:p>
          <a:p>
            <a:pPr algn="just">
              <a:spcAft>
                <a:spcPts val="1200"/>
              </a:spcAft>
            </a:pPr>
            <a:r>
              <a:rPr sz="2000" dirty="0">
                <a:solidFill>
                  <a:srgbClr val="1A1A1A"/>
                </a:solidFill>
                <a:latin typeface="Aptos" panose="020B0004020202020204" pitchFamily="34" charset="0"/>
              </a:rPr>
              <a:t>▪  Goal: an intelligent system to help or replace slow, inconsistent human decision-making in fruit quality grading.</a:t>
            </a:r>
          </a:p>
        </p:txBody>
      </p:sp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3. LITERATURE REVIEW: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9ECF4-5CE4-FAEE-4A3A-7F0C7216E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817"/>
              </p:ext>
            </p:extLst>
          </p:nvPr>
        </p:nvGraphicFramePr>
        <p:xfrm>
          <a:off x="461639" y="2150000"/>
          <a:ext cx="11407806" cy="4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7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Ref.</a:t>
                      </a:r>
                    </a:p>
                  </a:txBody>
                  <a:tcPr marL="76200" marR="762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Method</a:t>
                      </a:r>
                    </a:p>
                  </a:txBody>
                  <a:tcPr marL="76200" marR="762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Result</a:t>
                      </a:r>
                    </a:p>
                  </a:txBody>
                  <a:tcPr marL="76200" marR="762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[1]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5 CNN models on a 10-class fruit dataset (fresh/rotten)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InceptionV3 best: 97.34% accuracy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[2]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MobileNetV2, InceptionV3, DenseNet121, VGG16 on apples &amp; mangoes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MobileNetV2: 92.50% test acc. (mango); VGG16 lowest, &lt;80%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[3]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Image processing + CNN (thresholding, morphology)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Mango: 89% (IP), 95% (CNN)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[4]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Improved YOLOv4 + deep CNN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73.5% AP (fruit), 72.6% AP (vegetable)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[5]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CNN, KNN, SVM on Google/Kaggle datasets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CNN best: 95% accuracy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[6]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CNN + Softmax on Kaggle dataset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97.82% accuracy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[7]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En-UNet vs UNet segmentation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En-UNet: 97.46%/97.54% (train/val), IoU 0.866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[8]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CNN features + Random Forest classifier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95.11% grading, 93.23% variety recognition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[9]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CNN-based mango quality classification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98% accuracy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500000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1F3A5F"/>
                </a:solidFill>
                <a:latin typeface="Aptos" panose="020B0004020202020204" pitchFamily="34" charset="0"/>
              </a:rPr>
              <a:t>4. RESEARCH GAPS: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06FE6-6C59-5AB0-161B-F2488A31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11407806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Established CNN architectures (VGG16, InceptionV3, DenseNet121, MobileNetV2) reach good accuracy but carry heavy parameter counts.</a:t>
            </a:r>
          </a:p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Baseline VGG16 underperforms in several studies (accuracy below 80%) without architectural optimization.</a:t>
            </a:r>
          </a:p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Segmentation-based methods (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UNet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 / En-</a:t>
            </a:r>
            <a:r>
              <a:rPr sz="1800" dirty="0" err="1">
                <a:solidFill>
                  <a:srgbClr val="1A1A1A"/>
                </a:solidFill>
                <a:latin typeface="Aptos" panose="020B0004020202020204" pitchFamily="34" charset="0"/>
              </a:rPr>
              <a:t>UNet</a:t>
            </a: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) add computational complexity without exceeding lightweight CNN accuracy.</a:t>
            </a:r>
          </a:p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Many prior works rely on small or single-source datasets, limiting generalization to real-world/real-time conditions.</a:t>
            </a:r>
          </a:p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Few studies specifically target a lightweight, deployable model for fresh-vs-rotten mango classification.</a:t>
            </a:r>
          </a:p>
          <a:p>
            <a:pPr algn="l">
              <a:spcAft>
                <a:spcPts val="1600"/>
              </a:spcAft>
            </a:pPr>
            <a:r>
              <a:rPr sz="1800" dirty="0">
                <a:solidFill>
                  <a:srgbClr val="1A1A1A"/>
                </a:solidFill>
                <a:latin typeface="Aptos" panose="020B0004020202020204" pitchFamily="34" charset="0"/>
              </a:rPr>
              <a:t>▪  A need exists for a simpler, optimized, low-parameter model that retains high accuracy and sensitivity for binary fruit-quality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5. PROPOSED METHODOLOGY: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EF897-A14A-4EC4-5E53-0235241D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57000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1. Data Collection - 2000 mango images (1000 Fresh + 1000 Rotten), </a:t>
            </a:r>
            <a:r>
              <a:rPr lang="en-GB" sz="135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Mendeley dataset</a:t>
            </a:r>
          </a:p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2. Data Preprocessing - resize/rescale to 224×224, split into train/</a:t>
            </a:r>
            <a:r>
              <a:rPr sz="1350" dirty="0" err="1">
                <a:solidFill>
                  <a:srgbClr val="1A1A1A"/>
                </a:solidFill>
                <a:latin typeface="Aptos" panose="020B0004020202020204" pitchFamily="34" charset="0"/>
              </a:rPr>
              <a:t>val</a:t>
            </a: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/test</a:t>
            </a:r>
          </a:p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3. Image Data Augmentation - flipping and rotation (1°-359°)</a:t>
            </a:r>
          </a:p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4. Model Training - </a:t>
            </a:r>
            <a:r>
              <a:rPr sz="1350" dirty="0" err="1">
                <a:solidFill>
                  <a:srgbClr val="1A1A1A"/>
                </a:solidFill>
                <a:latin typeface="Aptos" panose="020B0004020202020204" pitchFamily="34" charset="0"/>
              </a:rPr>
              <a:t>OVGGNet</a:t>
            </a: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: 5 </a:t>
            </a:r>
            <a:r>
              <a:rPr sz="1350" dirty="0" err="1">
                <a:solidFill>
                  <a:srgbClr val="1A1A1A"/>
                </a:solidFill>
                <a:latin typeface="Aptos" panose="020B0004020202020204" pitchFamily="34" charset="0"/>
              </a:rPr>
              <a:t>Conv+Maxpool</a:t>
            </a: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 blocks, Flatten, Dense(</a:t>
            </a:r>
            <a:r>
              <a:rPr sz="1350" dirty="0" err="1">
                <a:solidFill>
                  <a:srgbClr val="1A1A1A"/>
                </a:solidFill>
                <a:latin typeface="Aptos" panose="020B0004020202020204" pitchFamily="34" charset="0"/>
              </a:rPr>
              <a:t>ReLU</a:t>
            </a: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5. Feature Extraction - hierarchical CNN feature learning</a:t>
            </a:r>
          </a:p>
          <a:p>
            <a:pPr algn="l">
              <a:spcAft>
                <a:spcPts val="800"/>
              </a:spcAft>
            </a:pPr>
            <a:r>
              <a:rPr sz="1350" dirty="0">
                <a:solidFill>
                  <a:srgbClr val="1A1A1A"/>
                </a:solidFill>
                <a:latin typeface="Aptos" panose="020B0004020202020204" pitchFamily="34" charset="0"/>
              </a:rPr>
              <a:t>▪  6. Model Testing - accuracy, recall, F1, confusion matrix, fine-tuning</a:t>
            </a:r>
          </a:p>
        </p:txBody>
      </p:sp>
      <p:pic>
        <p:nvPicPr>
          <p:cNvPr id="6" name="Picture 5" descr="page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150000"/>
            <a:ext cx="4572000" cy="2687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0000" y="48370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1F3A5F"/>
                </a:solidFill>
                <a:latin typeface="Aptos" panose="020B0004020202020204" pitchFamily="34" charset="0"/>
              </a:rPr>
              <a:t>Workflow of the Proposed </a:t>
            </a:r>
            <a:r>
              <a:rPr sz="1100" b="1" dirty="0" err="1">
                <a:solidFill>
                  <a:srgbClr val="1F3A5F"/>
                </a:solidFill>
                <a:latin typeface="Aptos" panose="020B0004020202020204" pitchFamily="34" charset="0"/>
              </a:rPr>
              <a:t>OVGGNet</a:t>
            </a:r>
            <a:r>
              <a:rPr sz="1100" b="1" dirty="0">
                <a:solidFill>
                  <a:srgbClr val="1F3A5F"/>
                </a:solidFill>
                <a:latin typeface="Aptos" panose="020B0004020202020204" pitchFamily="34" charset="0"/>
              </a:rPr>
              <a:t> Model</a:t>
            </a:r>
          </a:p>
        </p:txBody>
      </p:sp>
      <p:pic>
        <p:nvPicPr>
          <p:cNvPr id="8" name="Picture 7" descr="page7_img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576" y="5200000"/>
            <a:ext cx="4426847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50960" y="6434440"/>
            <a:ext cx="57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 err="1">
                <a:solidFill>
                  <a:srgbClr val="1F3A5F"/>
                </a:solidFill>
                <a:latin typeface="Aptos" panose="020B0004020202020204" pitchFamily="34" charset="0"/>
              </a:rPr>
              <a:t>OVGGNet</a:t>
            </a:r>
            <a:r>
              <a:rPr sz="1100" b="1" dirty="0">
                <a:solidFill>
                  <a:srgbClr val="1F3A5F"/>
                </a:solidFill>
                <a:latin typeface="Aptos" panose="020B0004020202020204" pitchFamily="34" charset="0"/>
              </a:rPr>
              <a:t> Architecture: Conv Blocks 1-5 → Flatten → Dense → Sigmoid</a:t>
            </a:r>
          </a:p>
        </p:txBody>
      </p:sp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6. RESULTS &amp; DISCUSSION: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B1F1C-F1DD-9EA9-2166-597E5AE1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01708"/>
              </p:ext>
            </p:extLst>
          </p:nvPr>
        </p:nvGraphicFramePr>
        <p:xfrm>
          <a:off x="461639" y="2150000"/>
          <a:ext cx="59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Metric (30 epochs)</a:t>
                      </a:r>
                    </a:p>
                  </a:txBody>
                  <a:tcPr marL="76200" marR="762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Case 1 (70:15:15)</a:t>
                      </a:r>
                    </a:p>
                  </a:txBody>
                  <a:tcPr marL="76200" marR="762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Case 2 (80:10:10)</a:t>
                      </a:r>
                    </a:p>
                  </a:txBody>
                  <a:tcPr marL="76200" marR="762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Overall Accuracy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98.48%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99.76%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Training Accuracy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95.91%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99.55%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Training Loss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12.22%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3.07%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Validation Loss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2.98%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0.80%</a:t>
                      </a:r>
                    </a:p>
                  </a:txBody>
                  <a:tcPr marL="76200" marR="762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1639" y="4300000"/>
            <a:ext cx="59000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Confusion matrix (Case 2, 80:10:10): 216 Fresh correctly classified, 1 misclassified; 199 Rotten correctly classified, 0 misclassified.</a:t>
            </a:r>
          </a:p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Rotten Mango precision = 1.0, Fresh Mango recall = 1.0; Fresh Mango F1-score = 99.77%.</a:t>
            </a:r>
          </a:p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Decayed mangoes show more distinctive visual characteristics than fresh ones, aiding classification.</a:t>
            </a:r>
          </a:p>
        </p:txBody>
      </p:sp>
      <p:pic>
        <p:nvPicPr>
          <p:cNvPr id="7" name="Picture 6" descr="page11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000" y="2150000"/>
            <a:ext cx="5256044" cy="4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7. COMPARATIVE ANALYSIS: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5472E-1300-6C2C-C071-677A3D0C3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1639" y="2150000"/>
          <a:ext cx="11407806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1639" y="5850000"/>
            <a:ext cx="11407806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Proposed </a:t>
            </a:r>
            <a:r>
              <a:rPr sz="1300" dirty="0" err="1">
                <a:solidFill>
                  <a:srgbClr val="1A1A1A"/>
                </a:solidFill>
                <a:latin typeface="Aptos" panose="020B0004020202020204" pitchFamily="34" charset="0"/>
              </a:rPr>
              <a:t>OVGGNet</a:t>
            </a: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 achieves the highest accuracy (99.76%) among all compared methods.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Existing works trade off lightweight design against accuracy (e.g., VGG16 baseline &lt;80%, YOLOv4 73.5% AP).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▪  </a:t>
            </a:r>
            <a:r>
              <a:rPr sz="1300" dirty="0" err="1">
                <a:solidFill>
                  <a:srgbClr val="1A1A1A"/>
                </a:solidFill>
                <a:latin typeface="Aptos" panose="020B0004020202020204" pitchFamily="34" charset="0"/>
              </a:rPr>
              <a:t>OVGGNet's</a:t>
            </a: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 optimized layers (flatten, </a:t>
            </a:r>
            <a:r>
              <a:rPr sz="1300" dirty="0" err="1">
                <a:solidFill>
                  <a:srgbClr val="1A1A1A"/>
                </a:solidFill>
                <a:latin typeface="Aptos" panose="020B0004020202020204" pitchFamily="34" charset="0"/>
              </a:rPr>
              <a:t>ReLU</a:t>
            </a:r>
            <a:r>
              <a:rPr sz="1300" dirty="0">
                <a:solidFill>
                  <a:srgbClr val="1A1A1A"/>
                </a:solidFill>
                <a:latin typeface="Aptos" panose="020B0004020202020204" pitchFamily="34" charset="0"/>
              </a:rPr>
              <a:t> dense, sigmoid, max-pooling) reduce parameters while improving sensitivity.</a:t>
            </a:r>
          </a:p>
        </p:txBody>
      </p:sp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8. CONCLUSION &amp; FUTURE WORK: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CF0E5-FC9D-E6B5-7C9E-C79AF63DC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5550000" cy="296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3A5F"/>
                </a:solidFill>
                <a:latin typeface="Aptos" panose="020B0004020202020204" pitchFamily="34" charset="0"/>
              </a:rPr>
              <a:t>Conclusion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Presented mango fruit quality detection using the proposed </a:t>
            </a:r>
            <a:r>
              <a:rPr sz="1450" dirty="0" err="1">
                <a:solidFill>
                  <a:srgbClr val="1A1A1A"/>
                </a:solidFill>
                <a:latin typeface="Aptos" panose="020B0004020202020204" pitchFamily="34" charset="0"/>
              </a:rPr>
              <a:t>OVGGNet</a:t>
            </a: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 model.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Model modifies pretrained </a:t>
            </a:r>
            <a:r>
              <a:rPr sz="1450" dirty="0" err="1">
                <a:solidFill>
                  <a:srgbClr val="1A1A1A"/>
                </a:solidFill>
                <a:latin typeface="Aptos" panose="020B0004020202020204" pitchFamily="34" charset="0"/>
              </a:rPr>
              <a:t>VGGNet</a:t>
            </a: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: flattened layer, </a:t>
            </a:r>
            <a:r>
              <a:rPr sz="1450" dirty="0" err="1">
                <a:solidFill>
                  <a:srgbClr val="1A1A1A"/>
                </a:solidFill>
                <a:latin typeface="Aptos" panose="020B0004020202020204" pitchFamily="34" charset="0"/>
              </a:rPr>
              <a:t>ReLU</a:t>
            </a: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 dense layer, sigmoid classifier, and max pooling (instead of average pooling).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Evaluated on two dataset splits: 98.48% accuracy (70:15:15) and 99.76% accuracy (80:10:10).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Lightweight, optimized design with fewer parameters and layers reduces computation time while maintaining high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1639" y="2150000"/>
            <a:ext cx="5550000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F3A5F"/>
                </a:solidFill>
                <a:latin typeface="Aptos" panose="020B0004020202020204" pitchFamily="34" charset="0"/>
              </a:rPr>
              <a:t>Future Work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Extend from binary (fresh/rotten) to multi-class ripening-stage grading.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Validate on larger, more diverse, real-time field datasets across mango varieties and lighting conditions.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Explore deployment on edge/mobile devices for real-time sorting lines.</a:t>
            </a:r>
          </a:p>
          <a:p>
            <a:pPr>
              <a:spcAft>
                <a:spcPts val="1200"/>
              </a:spcAft>
            </a:pP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▪  Benchmark against newer lightweight architectures (e.g., </a:t>
            </a:r>
            <a:r>
              <a:rPr sz="1450" dirty="0" err="1">
                <a:solidFill>
                  <a:srgbClr val="1A1A1A"/>
                </a:solidFill>
                <a:latin typeface="Aptos" panose="020B0004020202020204" pitchFamily="34" charset="0"/>
              </a:rPr>
              <a:t>MobileNet</a:t>
            </a: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450" dirty="0" err="1">
                <a:solidFill>
                  <a:srgbClr val="1A1A1A"/>
                </a:solidFill>
                <a:latin typeface="Aptos" panose="020B0004020202020204" pitchFamily="34" charset="0"/>
              </a:rPr>
              <a:t>EfficientNet</a:t>
            </a:r>
            <a:r>
              <a:rPr sz="1450" dirty="0">
                <a:solidFill>
                  <a:srgbClr val="1A1A1A"/>
                </a:solidFill>
                <a:latin typeface="Aptos" panose="020B0004020202020204" pitchFamily="34" charset="0"/>
              </a:rPr>
              <a:t>) for further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500000"/>
          </a:xfrm>
        </p:spPr>
        <p:txBody>
          <a:bodyPr/>
          <a:lstStyle/>
          <a:p>
            <a:pPr algn="l"/>
            <a:r>
              <a:rPr lang="en-IN" sz="2200" b="1" dirty="0">
                <a:solidFill>
                  <a:srgbClr val="1F3A5F"/>
                </a:solidFill>
                <a:latin typeface="Aptos" panose="020B0004020202020204" pitchFamily="34" charset="0"/>
              </a:rPr>
              <a:t>9. REFERENCES: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0F444-3F8D-A2CA-F0D8-4E3F76F00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639" y="2150000"/>
            <a:ext cx="5600000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1. Bruinsma, J. (Ed.) (2003). World Agriculture: Towards 2015/2030. Routledge.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2. FAO in India. Online, fao.org/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india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Accessed 22 Jan 2025.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3. Sivakumar, D. et al. (2011). Maintaining mango fruit quality during export chain. Food Research Int'l, 44(5), 1254-1263.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4.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Zhena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O.P. et al. (2020). Quality evaluation of mango using non-destructive approaches. J. Agri. Food Eng., 1(0003), 1-8.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5.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Altaheri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H. et al. (2019). Date fruit classification for robotic harvesting using DL. IEEE Access, 7, 117115-117133.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6. Rizzo, M. et al. (2023). Fruit ripeness classification: A survey. Artificial Intelligence in Agriculture, 7, 44-57.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7. Chaurasia, B.K. et al. (2023). Transfer learning-driven ensemble model for diabetic retinopathy. Med. Bio. Eng.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Comput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., 61, 2033-2049.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8. Mehl, P.M. et al. (2002). Detection of defects on apple cultivars using hyperspectral imaging. Applied Eng. Agri., 18(2), 219-226.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9. Singh, Y.P., Chaurasia, B.K., Shukla, M.M. (2024). Mango fruit variety classification using lightweight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VGGNet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. SN Computer Science, 5(1083), 1-15.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10. Kavitha, M., Palani, S. (2020). Comprehensive analysis for retinal image classification. Int'l J. Business Info. Systems, 34(2), 229-252.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11. Miah, M.S. et al. (2021). Identification of fresh/rotten fruits using CNNs. ICCCNT 2021, pp. 1-7.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12. Pacheco, R. et al. (2023). Fruit defect detection using CNN models with real &amp; virtual data. VISIGRAPP (4:VISAPP), 272-279.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13. Akram, M.W. et al. (2023). Machine vision-based automatic fruit quality detection &amp; grading. Front.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Agr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. Sci. Eng.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14.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Mukhiddinov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M. et al. (2022). Improved classification for fruit/vegetable freshness using DL. Sensors, 22(21), 8192.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15. Hamim, M.A. et al. (2023). Bangladeshi fresh-rotten fruit &amp; vegetable detection using DL. CCAI 2023, 233-238.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1639" y="2150000"/>
            <a:ext cx="5600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16.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Palakodati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S.S.S. et al. (2020). Fresh &amp; rotten fruits classification using CNN &amp; transfer learning. Rev. Intelligence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Artif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., 34(5), 617-622.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17. Roy, K., Chaudhuri, S.S., Pramanik, S. (2021). DL-based industrial framework for rotten/fresh fruit via semantic segmentation.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Microsyst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 Technol, 27, 3365-3375.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18. Gururaj, N., Vinod, V., Vijayakumar, K. (2023). Deep grading of mangoes using CNN and CV.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Multimed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 Tools Appl, 82, 39525-39550.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19. Nithya, R. et al. (2022). Computer vision system for mango defect detection using deep CNN. Foods, 11, 3483.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20. Suescun, P. et al. (2020). Spoiled and fresh fruit inspection dataset. Mendeley Data, V1.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21. Dataset. data.mendeley.com/datasets/6ps7gtp2wg/1. Accessed 29 Nov 2025.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22. Maharana, K., Mondal, S.,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Nemade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B. (2022). Review: Data preprocessing &amp; augmentation techniques. Global Transitions Proceedings, 3(1), 91-99.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23. Shorten, C.,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Khoshgoftaar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T.M. (2019). A survey on image data augmentation for DL. J. Big Data, 6(60), 1-48.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24. Kingma, D.P., Ba, J. (2017). Adam: A method for stochastic optimization. arXiv:1412.6980.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25. </a:t>
            </a:r>
            <a:r>
              <a:rPr sz="850" dirty="0" err="1">
                <a:solidFill>
                  <a:srgbClr val="1A1A1A"/>
                </a:solidFill>
                <a:latin typeface="Aptos" panose="020B0004020202020204" pitchFamily="34" charset="0"/>
              </a:rPr>
              <a:t>Jogin</a:t>
            </a: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, M. et al. (2018). Feature extraction using CNNs and DL. IEEE RTEICT 2018, 2319-2323.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26. Maria Navin, J.R., Pankaja, R. (2016). Performance analysis of text classification using confusion matrix. IJETR, 6(4), 75-8.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27. Harris, C.R. et al. (2020). Array programming with NumPy. Nature, 585, 357-362.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28. Pedregosa, F. et al. (2011). Scikit-learn: ML in Python. JMLR, 12, 2825-2830.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29. TensorFlow. tensorflow.org/versions. Accessed 21 Jan 2026.</a:t>
            </a:r>
          </a:p>
          <a:p>
            <a:pPr>
              <a:spcAft>
                <a:spcPts val="300"/>
              </a:spcAft>
            </a:pPr>
            <a:r>
              <a:rPr sz="850" dirty="0">
                <a:solidFill>
                  <a:srgbClr val="1A1A1A"/>
                </a:solidFill>
                <a:latin typeface="Aptos" panose="020B0004020202020204" pitchFamily="34" charset="0"/>
              </a:rPr>
              <a:t>30. Python 3 (3.9). python.org/downloads/release/python393. Accessed 21 Nov 2025.</a:t>
            </a:r>
          </a:p>
        </p:txBody>
      </p:sp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2042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Rajesh Kumar Singh</cp:lastModifiedBy>
  <cp:revision>30</cp:revision>
  <dcterms:created xsi:type="dcterms:W3CDTF">2021-02-05T14:09:33Z</dcterms:created>
  <dcterms:modified xsi:type="dcterms:W3CDTF">2026-07-28T23:37:28Z</dcterms:modified>
</cp:coreProperties>
</file>